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3" r:id="rId9"/>
    <p:sldId id="271" r:id="rId10"/>
    <p:sldId id="262" r:id="rId11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162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3926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9.png"/><Relationship Id="rId7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F5132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3200400"/>
            <a:ext cx="2743200" cy="274320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SERVICES PROPOSAL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8402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</a:t>
            </a:r>
            <a:r>
              <a:rPr lang="en-US" sz="3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{{client}}</a:t>
            </a: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85800" y="281635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TeamLogic IT.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85800" y="36118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strategic IT partnership — proactive support, hardened security, and the right technology to grow with your business.</a:t>
            </a:r>
            <a:endParaRPr lang="en-US" sz="1300" dirty="0"/>
          </a:p>
        </p:txBody>
      </p:sp>
      <p:pic>
        <p:nvPicPr>
          <p:cNvPr id="9" name="Image 0" descr="/home/claude/logo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11480"/>
            <a:ext cx="2103120" cy="6572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TeamLogic IT Scottsdale  |  {{proposal_month}}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383280" cy="3337560"/>
          </a:xfrm>
          <a:prstGeom prst="rect">
            <a:avLst/>
          </a:prstGeom>
          <a:solidFill>
            <a:srgbClr val="0F172A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73152" cy="3337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TEAMLOGIC EDGE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IT,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8580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your business.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246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combine national scale with local accountability — so you get enterprise-grade capability with a partner who actually knows your name.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60520" y="12984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9204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Shop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892040" y="15727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cybersecurity, compliance, and custom software — all under one roof.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92040" y="1954530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160520" y="19796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4892040" y="19613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First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892040" y="225399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team that knows your business, delivering personalized, responsive support.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892040" y="2635758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60520" y="26609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4892040" y="26426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National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892040" y="293522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340+ locations, 2,000+ engineers — with a Scottsdale team that shows up locally.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892040" y="3316986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160520" y="33421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4892040" y="33238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892040" y="36164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Owner/Vendor and CompTIA Cybersecurity Council expertise across the stack.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92040" y="3998214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16052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200" dirty="0"/>
          </a:p>
        </p:txBody>
      </p:sp>
      <p:sp>
        <p:nvSpPr>
          <p:cNvPr id="28" name="Text 25"/>
          <p:cNvSpPr/>
          <p:nvPr/>
        </p:nvSpPr>
        <p:spPr>
          <a:xfrm>
            <a:off x="4892040" y="4005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R&amp;D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892040" y="42976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decades of industry R&amp;D investment — your roadmap stays ahead of the curve.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Solutions &amp; Services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interconnected service areas — coordinated, not siloed.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0" y="2478024"/>
            <a:ext cx="9144" cy="402336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 flipV="1">
            <a:off x="5050305" y="3103541"/>
            <a:ext cx="382644" cy="124329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867609" y="3790151"/>
            <a:ext cx="236487" cy="325497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 flipV="1">
            <a:off x="4039904" y="3790151"/>
            <a:ext cx="236487" cy="325497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711050" y="3103541"/>
            <a:ext cx="382644" cy="124329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977640" y="2788920"/>
            <a:ext cx="1188720" cy="118872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069080" y="2880360"/>
            <a:ext cx="1005840" cy="100584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069080" y="29260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600" dirty="0"/>
          </a:p>
        </p:txBody>
      </p:sp>
      <p:sp>
        <p:nvSpPr>
          <p:cNvPr id="14" name="Text 11"/>
          <p:cNvSpPr/>
          <p:nvPr/>
        </p:nvSpPr>
        <p:spPr>
          <a:xfrm>
            <a:off x="4069080" y="3611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178808" y="1755648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242816" y="1819656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334256" y="1911096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1993392"/>
            <a:ext cx="310896" cy="3108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200400" y="13898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352830" y="2608625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416838" y="2672633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5508278" y="2764073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0574" y="2846369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212366" y="2809793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4904394" y="3988771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968402" y="4052779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059842" y="4144219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2138" y="4226515"/>
            <a:ext cx="310896" cy="31089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763930" y="4189939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 &amp; Maintenance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3453222" y="3988771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3517230" y="4052779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3608670" y="4144219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0966" y="4226515"/>
            <a:ext cx="310896" cy="31089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53990" y="4189939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Disaster Recovery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004786" y="2608625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3068794" y="2672633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3160234" y="2764073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2530" y="2846369"/>
            <a:ext cx="310896" cy="31089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554" y="2809793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Services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Risk Assessment &amp; Compliance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three-step methodology to safeguard your data and meet your industry's standards.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011680" y="2455164"/>
            <a:ext cx="51206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011680" y="2455164"/>
            <a:ext cx="512064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29844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37160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220" y="2217420"/>
            <a:ext cx="502920" cy="5029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6771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226771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Testing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3152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mitigate vulnerabilities through ethical hacking techniques.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85876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93192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2217420"/>
            <a:ext cx="502920" cy="5029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2803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482803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20040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29184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and manage cybersecurity risks across the organization.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1908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649224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860" y="2217420"/>
            <a:ext cx="502920" cy="5029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38835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738835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76072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Compliance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585216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 to standards and regulations specific to your vertical.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457200" y="416052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5"/>
          <p:cNvSpPr/>
          <p:nvPr/>
        </p:nvSpPr>
        <p:spPr>
          <a:xfrm>
            <a:off x="68580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risk assessment and compliance management safeguard your data and maintain industry-specific standards.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INFRASTRUCTURE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Solutions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capabilities — from foundational systems to cutting-edge AI.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280160" y="1463040"/>
            <a:ext cx="6583680" cy="713232"/>
          </a:xfrm>
          <a:prstGeom prst="rect">
            <a:avLst/>
          </a:prstGeom>
          <a:solidFill>
            <a:srgbClr val="10B981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280160" y="1463040"/>
            <a:ext cx="914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146304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08760" y="151790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508760" y="170078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&amp; LLM Fine-Tuning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0" y="1463040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GenAI and Large Language Models to automate, enhance, and unlock value.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280160" y="2231136"/>
            <a:ext cx="6583680" cy="713232"/>
          </a:xfrm>
          <a:prstGeom prst="rect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280160" y="2231136"/>
            <a:ext cx="91440" cy="713232"/>
          </a:xfrm>
          <a:prstGeom prst="rect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02920" y="22311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860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508760" y="246888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&amp; Analytics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303520" y="2231136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Pipelines, BI, and advanced analytics that drive informed decision-making.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280160" y="2999232"/>
            <a:ext cx="6583680" cy="713232"/>
          </a:xfrm>
          <a:prstGeom prst="rect">
            <a:avLst/>
          </a:prstGeom>
          <a:solidFill>
            <a:srgbClr val="334155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1280160" y="2999232"/>
            <a:ext cx="91440" cy="7132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02920" y="299923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508760" y="30540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508760" y="32369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Integrations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303520" y="2999232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connect business applications into a unified, efficient workflow.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280160" y="3767328"/>
            <a:ext cx="6583680" cy="713232"/>
          </a:xfrm>
          <a:prstGeom prst="rect">
            <a:avLst/>
          </a:prstGeom>
          <a:solidFill>
            <a:srgbClr val="0F172A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1280160" y="3767328"/>
            <a:ext cx="91440" cy="7132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02920" y="376732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508760" y="38221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508760" y="400507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Software Development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303520" y="376732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solutions designed around your unique business workflows and requirements.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955280" y="1463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183880" y="1463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as a Service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threat detection to response — measured in minutes, not hours.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CaaS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828800" y="1965960"/>
            <a:ext cx="5303520" cy="45720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31520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hours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822960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 IRT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TeamLogic IT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828800" y="2926080"/>
            <a:ext cx="209931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130171" y="3154680"/>
            <a:ext cx="54864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2724531" y="29992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faster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315200" y="2834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min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50292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" y="4146804"/>
            <a:ext cx="210312" cy="2103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5156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 Centers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05156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 distributed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260604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9484" y="4146804"/>
            <a:ext cx="210312" cy="21031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15468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Experts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315468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SOC staffing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70916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2604" y="4146804"/>
            <a:ext cx="210312" cy="21031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Hunting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525780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monitoring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681228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5724" y="4146804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6092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IR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736092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remediation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0" y="1371600"/>
            <a:ext cx="3657600" cy="3657600"/>
          </a:xfrm>
          <a:prstGeom prst="ellipse">
            <a:avLst/>
          </a:prstGeom>
          <a:solidFill>
            <a:srgbClr val="0F5132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3657600"/>
            <a:ext cx="2743200" cy="274320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LANDSCAPE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9000" dirty="0"/>
          </a:p>
        </p:txBody>
      </p:sp>
      <p:sp>
        <p:nvSpPr>
          <p:cNvPr id="7" name="Text 4"/>
          <p:cNvSpPr/>
          <p:nvPr/>
        </p:nvSpPr>
        <p:spPr>
          <a:xfrm>
            <a:off x="457200" y="32461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cyberattacks begin with a phishing email.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is your soft attack surface. CaaS plus advanced email threat filtering shuts the door before a single click can compromise your business.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ECOSYSTEM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&amp; Technology Partners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120+</a:t>
            </a:r>
            <a:endParaRPr lang="en-US" sz="11500" dirty="0"/>
          </a:p>
        </p:txBody>
      </p:sp>
      <p:sp>
        <p:nvSpPr>
          <p:cNvPr id="6" name="Text 3"/>
          <p:cNvSpPr/>
          <p:nvPr/>
        </p:nvSpPr>
        <p:spPr>
          <a:xfrm>
            <a:off x="457200" y="3154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partners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certifications across the categories that matter most to your stack.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Gold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581912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581912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Certified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06624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706624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CCIP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160520" y="1417320"/>
            <a:ext cx="18288" cy="31089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434840" y="1417320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INFRASTRUCTURE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434840" y="1709928"/>
            <a:ext cx="6172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434840" y="1709928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116068" y="1709928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116068" y="170992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774436" y="1709928"/>
            <a:ext cx="1033272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774436" y="170992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871716" y="1709928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71716" y="170992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530084" y="1709928"/>
            <a:ext cx="676656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530084" y="1709928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Lenovo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434840" y="2231136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434840" y="2523744"/>
            <a:ext cx="676656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434840" y="2523744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Sophos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175504" y="2523744"/>
            <a:ext cx="854964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5175504" y="2523744"/>
            <a:ext cx="85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Security+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094476" y="2523744"/>
            <a:ext cx="91440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094476" y="25237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Trustmark+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072884" y="2523744"/>
            <a:ext cx="61722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7072884" y="2523744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Datto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434840" y="30449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COMMS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434840" y="3337560"/>
            <a:ext cx="9144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4434840" y="33375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CCIP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13248" y="3337560"/>
            <a:ext cx="795528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5413248" y="3337560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Network+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6272784" y="3337560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272784" y="333756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3CX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6931152" y="3337560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6931152" y="333756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NUSO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434840" y="3858768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TOOLING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434840" y="4151376"/>
            <a:ext cx="676656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4434840" y="4151376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Kaseya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175504" y="4151376"/>
            <a:ext cx="795528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5175504" y="4151376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Autotask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6035040" y="4151376"/>
            <a:ext cx="795528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6035040" y="4151376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NinjaOne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894576" y="4151376"/>
            <a:ext cx="61722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6894576" y="4151376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Datto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OUTCOMES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in Their Words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575304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1265" y="1381841"/>
            <a:ext cx="198973" cy="1989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995928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1889" y="1381841"/>
            <a:ext cx="198973" cy="198973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416552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513" y="1381841"/>
            <a:ext cx="198973" cy="198973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4837176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137" y="1381841"/>
            <a:ext cx="198973" cy="198973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257800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761" y="1381841"/>
            <a:ext cx="198973" cy="198973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3886200" y="1600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8000" dirty="0"/>
          </a:p>
        </p:txBody>
      </p:sp>
      <p:sp>
        <p:nvSpPr>
          <p:cNvPr id="16" name="Text 8"/>
          <p:cNvSpPr/>
          <p:nvPr/>
        </p:nvSpPr>
        <p:spPr>
          <a:xfrm>
            <a:off x="1097280" y="23317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customers have been consistently impressed by the exceptional service and attention to detail provided by our team — and the tangible results they've achieved with our solutions.</a:t>
            </a:r>
            <a:endParaRPr lang="en-US" sz="1800" dirty="0"/>
          </a:p>
        </p:txBody>
      </p:sp>
      <p:sp>
        <p:nvSpPr>
          <p:cNvPr id="17" name="Text 9"/>
          <p:cNvSpPr/>
          <p:nvPr/>
        </p:nvSpPr>
        <p:spPr>
          <a:xfrm>
            <a:off x="1371600" y="3429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Our Feedback Process: every closed ticket triggers a CSAT survey; quarterly reviews with key stakeholders.</a:t>
            </a:r>
            <a:endParaRPr lang="en-US" sz="1000" dirty="0"/>
          </a:p>
        </p:txBody>
      </p:sp>
      <p:sp>
        <p:nvSpPr>
          <p:cNvPr id="18" name="Text 10"/>
          <p:cNvSpPr/>
          <p:nvPr/>
        </p:nvSpPr>
        <p:spPr>
          <a:xfrm>
            <a:off x="61722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800" dirty="0"/>
          </a:p>
        </p:txBody>
      </p:sp>
      <p:sp>
        <p:nvSpPr>
          <p:cNvPr id="19" name="Text 11"/>
          <p:cNvSpPr/>
          <p:nvPr/>
        </p:nvSpPr>
        <p:spPr>
          <a:xfrm>
            <a:off x="61722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Class NPS &gt; 70%</a:t>
            </a:r>
            <a:endParaRPr lang="en-US" sz="1100" dirty="0"/>
          </a:p>
        </p:txBody>
      </p:sp>
      <p:sp>
        <p:nvSpPr>
          <p:cNvPr id="20" name="Text 12"/>
          <p:cNvSpPr/>
          <p:nvPr/>
        </p:nvSpPr>
        <p:spPr>
          <a:xfrm>
            <a:off x="61722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Promoter Score</a:t>
            </a:r>
            <a:endParaRPr lang="en-US" sz="900" dirty="0"/>
          </a:p>
        </p:txBody>
      </p:sp>
      <p:sp>
        <p:nvSpPr>
          <p:cNvPr id="21" name="Shape 13"/>
          <p:cNvSpPr/>
          <p:nvPr/>
        </p:nvSpPr>
        <p:spPr>
          <a:xfrm>
            <a:off x="3241548" y="4023360"/>
            <a:ext cx="9144" cy="6400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/>
          <p:nvPr/>
        </p:nvSpPr>
        <p:spPr>
          <a:xfrm>
            <a:off x="326898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26898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CSAT &gt; 90%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326898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</a:t>
            </a:r>
            <a:endParaRPr lang="en-US" sz="900" dirty="0"/>
          </a:p>
        </p:txBody>
      </p:sp>
      <p:sp>
        <p:nvSpPr>
          <p:cNvPr id="25" name="Shape 17"/>
          <p:cNvSpPr/>
          <p:nvPr/>
        </p:nvSpPr>
        <p:spPr>
          <a:xfrm>
            <a:off x="5893308" y="4023360"/>
            <a:ext cx="9144" cy="6400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/>
          <p:nvPr/>
        </p:nvSpPr>
        <p:spPr>
          <a:xfrm>
            <a:off x="592074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100s</a:t>
            </a:r>
            <a:endParaRPr lang="en-US" sz="2800" dirty="0"/>
          </a:p>
        </p:txBody>
      </p:sp>
      <p:sp>
        <p:nvSpPr>
          <p:cNvPr id="27" name="Text 19"/>
          <p:cNvSpPr/>
          <p:nvPr/>
        </p:nvSpPr>
        <p:spPr>
          <a:xfrm>
            <a:off x="592074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5-Star Reviews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92074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our markets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F513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AWARDS &amp; RECOGNITION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/ 2026 Awards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16916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45720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MSP in Scottsdale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3108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Futures Regional Rankings — recognizing the top managed service providers in our market.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business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78308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82880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82880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10896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15468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340+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15468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754880" y="155448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1" descr="/home/claude/msp501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691640"/>
            <a:ext cx="3108960" cy="16192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937760" y="34480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Two-Time MSP of the Year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937760" y="376809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 nationally by Channel Futures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507492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F5132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73152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WHAT'S NEXT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828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{{client}}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85800" y="3703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when you are. Let's start the conversation.</a:t>
            </a:r>
            <a:endParaRPr lang="en-US" sz="1400" dirty="0"/>
          </a:p>
        </p:txBody>
      </p:sp>
      <p:pic>
        <p:nvPicPr>
          <p:cNvPr id="9" name="Image 0" descr="/home/claude/logo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023360"/>
            <a:ext cx="1828800" cy="5715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Scottsdale  |  Your Technology Advisor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1074</Words>
  <Application>Microsoft Office PowerPoint</Application>
  <PresentationFormat>On-screen Show (16:9)</PresentationFormat>
  <Paragraphs>260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TeamLogic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TeamLogic IT proposal template</dc:title>
  <dc:subject>PptxGenJS Presentation</dc:subject>
  <dc:creator>TeamLogic IT Scottsdale</dc:creator>
  <cp:lastModifiedBy>Tal Margalit</cp:lastModifiedBy>
  <cp:revision>6</cp:revision>
  <dcterms:created xsi:type="dcterms:W3CDTF">2026-05-27T18:14:32Z</dcterms:created>
  <dcterms:modified xsi:type="dcterms:W3CDTF">2026-10-28T00:04:00Z</dcterms:modified>
</cp:coreProperties>
</file>