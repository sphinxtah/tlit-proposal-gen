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3" r:id="rId9"/>
    <p:sldId id="271" r:id="rId10"/>
    <p:sldId id="262" r:id="rId11"/>
    <p:sldId id="273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6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92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F513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8402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</a:t>
            </a: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{{client}}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TeamLogic IT.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IT partnership — proactive support, hardened security, and the right technology to grow with your business.</a:t>
            </a:r>
            <a:endParaRPr lang="en-US" sz="1300" dirty="0"/>
          </a:p>
        </p:txBody>
      </p:sp>
      <p:pic>
        <p:nvPicPr>
          <p:cNvPr id="9" name="Image 0" descr="/home/claude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11480"/>
            <a:ext cx="2103120" cy="6572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TeamLogic IT Scottsdale  |  {{proposal_month}}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383280" cy="333756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73152" cy="3337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TEAMLOGIC EDGE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IT,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business.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national scale with local accountability — so you get enterprise-grade capability with a partner who actually knows your name.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6052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892040" y="1280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Shop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9204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cybersecurity, compliance, and custom software — all under one roof.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92040" y="1954530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60520" y="19796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892040" y="19613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92040" y="22539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team that knows your business, delivering personalized, responsive support.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92040" y="2635758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60520" y="2660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89204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National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92040" y="29352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 locations, 2,000+ engineers — with a Scottsdale team that shows up locally.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92040" y="3316986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60520" y="33421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892040" y="33238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92040" y="36164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Owner/Vendor and CompTIA Cybersecurity Council expertise across the stack.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92040" y="3998214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60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4892040" y="4005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R&amp;D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89204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decades of industry R&amp;D investment — your roadmap stays ahead of the curve.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Solutions &amp; Services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interconnected service areas — coordinated, not siloed.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0" y="2478024"/>
            <a:ext cx="9144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 flipV="1">
            <a:off x="5050305" y="3103541"/>
            <a:ext cx="382644" cy="124329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67609" y="3790151"/>
            <a:ext cx="236487" cy="325497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4039904" y="3790151"/>
            <a:ext cx="236487" cy="325497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11050" y="3103541"/>
            <a:ext cx="382644" cy="124329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977640" y="2788920"/>
            <a:ext cx="1188720" cy="118872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069080" y="2880360"/>
            <a:ext cx="1005840" cy="100584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6908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069080" y="3611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78808" y="1755648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42816" y="1819656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34256" y="1911096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99339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352830" y="2608625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16838" y="2672633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508278" y="2764073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574" y="2846369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2366" y="280979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904394" y="3988771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968402" y="4052779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059842" y="4144219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138" y="4226515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3930" y="4189939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&amp; Maintenance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3453222" y="3988771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517230" y="4052779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608670" y="4144219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966" y="4226515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3990" y="4189939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3004786" y="2608625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068794" y="2672633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160234" y="2764073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530" y="2846369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554" y="280979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 Assessment &amp; Compliance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three-step methodology to safeguard your data and meet your industry's standards.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011680" y="2455164"/>
            <a:ext cx="51206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011680" y="2455164"/>
            <a:ext cx="512064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9844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7160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220" y="2217420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6771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6771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mitigate vulnerabilities through ethical hacking techniques.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85876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93192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217420"/>
            <a:ext cx="502920" cy="5029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2803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82803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200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29184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manage cybersecurity risks across the organization.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1908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49224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2217420"/>
            <a:ext cx="502920" cy="5029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8835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38835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7607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Compliance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85216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 to standards and regulations specific to your vertical.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7200" y="416052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8580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risk assessment and compliance management safeguard your data and maintain industry-specific standards.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INFRASTRUCTURE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Solutions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capabilities — from foundational systems to cutting-edge AI.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80160" y="1463040"/>
            <a:ext cx="6583680" cy="713232"/>
          </a:xfrm>
          <a:prstGeom prst="rect">
            <a:avLst/>
          </a:prstGeom>
          <a:solidFill>
            <a:srgbClr val="10B981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80160" y="1463040"/>
            <a:ext cx="914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517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08760" y="17007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 Fine-Tuning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146304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GenAI and Large Language Models to automate, enhance, and unlock value.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2231136"/>
            <a:ext cx="6583680" cy="713232"/>
          </a:xfrm>
          <a:prstGeom prst="rect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80160" y="2231136"/>
            <a:ext cx="91440" cy="713232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22311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0876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24688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03520" y="223113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BI, and advanced analytics that drive informed decision-making.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280160" y="2999232"/>
            <a:ext cx="6583680" cy="713232"/>
          </a:xfrm>
          <a:prstGeom prst="rect">
            <a:avLst/>
          </a:prstGeom>
          <a:solidFill>
            <a:srgbClr val="334155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80160" y="2999232"/>
            <a:ext cx="914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29992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08760" y="30540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508760" y="32369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299923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connect business applications into a unified, efficient workflow.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280160" y="3767328"/>
            <a:ext cx="658368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280160" y="3767328"/>
            <a:ext cx="914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37673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0876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508760" y="40050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Development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03520" y="376732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solutions designed around your unique business workflows and requirements.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838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as a Service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threat detection to response — measured in minutes, not hours.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CaaS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0" y="1965960"/>
            <a:ext cx="530352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hours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IRT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TeamLogic IT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28800" y="2926080"/>
            <a:ext cx="209931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30171" y="3154680"/>
            <a:ext cx="54864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24531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faster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min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414680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Centers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5156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distributed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60604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484" y="4146804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1546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Experts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15468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SOC staffing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0916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4146804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25780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monitoring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81228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724" y="414680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609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IR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36092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remediation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F513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3657600"/>
            <a:ext cx="2743200" cy="27432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90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begin with a phishing email.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your soft attack surface. CaaS plus advanced email threat filtering shuts the door before a single click can compromise your business.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ECOSYSTEM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Technology Partners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115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certifications across the categories that matter most to your stack.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Gold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81912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81912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06624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06624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60520" y="1417320"/>
            <a:ext cx="18288" cy="31089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141732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34840" y="1709928"/>
            <a:ext cx="6172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34840" y="1709928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16068" y="1709928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16068" y="1709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74436" y="1709928"/>
            <a:ext cx="1033272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74436" y="170992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71716" y="1709928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71716" y="1709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530084" y="1709928"/>
            <a:ext cx="676656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530084" y="1709928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434840" y="22311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434840" y="2523744"/>
            <a:ext cx="676656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434840" y="2523744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175504" y="2523744"/>
            <a:ext cx="854964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175504" y="2523744"/>
            <a:ext cx="854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94476" y="252374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94476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Trustmark+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072884" y="2523744"/>
            <a:ext cx="61722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072884" y="2523744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434840" y="304495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COMMS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434840" y="3337560"/>
            <a:ext cx="91440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43484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CCIP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13248" y="3337560"/>
            <a:ext cx="795528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13248" y="333756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Network+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72784" y="3337560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72784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3CX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931152" y="3337560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931152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NUSO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434840" y="385876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TOOLING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434840" y="4151376"/>
            <a:ext cx="676656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434840" y="4151376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Kaseya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175504" y="4151376"/>
            <a:ext cx="795528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175504" y="4151376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Autotask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035040" y="4151376"/>
            <a:ext cx="795528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035040" y="4151376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NinjaOne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894576" y="4151376"/>
            <a:ext cx="61722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894576" y="4151376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Datto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OUTCOMES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Their Words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575304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265" y="1381841"/>
            <a:ext cx="198973" cy="19897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995928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889" y="1381841"/>
            <a:ext cx="198973" cy="19897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416552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13" y="1381841"/>
            <a:ext cx="198973" cy="19897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837176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137" y="1381841"/>
            <a:ext cx="198973" cy="19897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257800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61" y="1381841"/>
            <a:ext cx="198973" cy="1989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886200" y="1600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6" name="Text 8"/>
          <p:cNvSpPr/>
          <p:nvPr/>
        </p:nvSpPr>
        <p:spPr>
          <a:xfrm>
            <a:off x="1097280" y="2331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customers have been consistently impressed by the exceptional service and attention to detail provided by our team — and the tangible results they've achieved with our solutions.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137160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Our Feedback Process: every closed ticket triggers a CSAT survey; quarterly reviews with key stakeholders.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61722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800" dirty="0"/>
          </a:p>
        </p:txBody>
      </p:sp>
      <p:sp>
        <p:nvSpPr>
          <p:cNvPr id="19" name="Text 11"/>
          <p:cNvSpPr/>
          <p:nvPr/>
        </p:nvSpPr>
        <p:spPr>
          <a:xfrm>
            <a:off x="61722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Class NPS &gt; 70%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1722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3241548" y="4023360"/>
            <a:ext cx="9144" cy="6400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326898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800" dirty="0"/>
          </a:p>
        </p:txBody>
      </p:sp>
      <p:sp>
        <p:nvSpPr>
          <p:cNvPr id="23" name="Text 15"/>
          <p:cNvSpPr/>
          <p:nvPr/>
        </p:nvSpPr>
        <p:spPr>
          <a:xfrm>
            <a:off x="326898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CSAT &gt; 90%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26898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893308" y="4023360"/>
            <a:ext cx="9144" cy="6400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92074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2800" dirty="0"/>
          </a:p>
        </p:txBody>
      </p:sp>
      <p:sp>
        <p:nvSpPr>
          <p:cNvPr id="27" name="Text 19"/>
          <p:cNvSpPr/>
          <p:nvPr/>
        </p:nvSpPr>
        <p:spPr>
          <a:xfrm>
            <a:off x="592074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5-Star Reviews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92074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our markets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F513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RECOGNITION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 Awards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in Scottsdale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Futures Regional Rankings — recognizing the top managed service providers in our market.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8308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2880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0896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15468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15544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msp501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91640"/>
            <a:ext cx="3108960" cy="16192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37760" y="344805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 MSP of the Year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376809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nationally by Channel Futures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State to Safe Environment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{{current_state}}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2651760"/>
            <a:ext cx="731520" cy="731520"/>
          </a:xfrm>
          <a:prstGeom prst="ellipse">
            <a:avLst/>
          </a:prstGeom>
          <a:solidFill>
            <a:srgbClr val="10B981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816352"/>
            <a:ext cx="402336" cy="402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1280160"/>
            <a:ext cx="3657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29200" y="1280160"/>
            <a:ext cx="3657600" cy="411480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29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ENVIRONMENT WITH TEAMLOGIC IT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8745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Network Monitoring (NOC)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40680" y="20756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detection across all systems and devices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53288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487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Help Desk Support/Local Presence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40680" y="27340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end-user support; minimal downtime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19125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40680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Services 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40680" y="33924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protection, email security, SOC services</a:t>
            </a:r>
            <a:endParaRPr lang="en-US" sz="9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849624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40680" y="3803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vCIO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440680" y="40507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guidance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PROPOSAL PRICING – {{pricing_basis}}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Investment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9318" y="162926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0F51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{{monthly}}</a:t>
            </a:r>
            <a:endParaRPr kumimoji="0" lang="en-US" sz="5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38668" y="1953137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month    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794760"/>
            <a:ext cx="221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72908" y="3794760"/>
            <a:ext cx="1167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160520" y="1358550"/>
            <a:ext cx="45262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160520" y="1358550"/>
            <a:ext cx="4526280" cy="438912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361688" y="140427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SUPPORT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61688" y="155971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086600" y="135855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{{core_monthly}}/mo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332624" y="204296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Help Desk Support (Business Hours)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24/7 NOC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995160" y="187061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{{core_detail}}</a:t>
            </a: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001000" y="187061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{{core_total}}</a:t>
            </a: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361688" y="2263140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361688" y="2464308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361688" y="3616452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361688" y="3817620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361688" y="4018788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361688" y="4219956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DCF82DC6-8FF4-14FC-136C-F89780B29FF6}"/>
              </a:ext>
            </a:extLst>
          </p:cNvPr>
          <p:cNvSpPr/>
          <p:nvPr/>
        </p:nvSpPr>
        <p:spPr>
          <a:xfrm>
            <a:off x="457200" y="1214385"/>
            <a:ext cx="3438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Managed Services </a:t>
            </a:r>
            <a:r>
              <a:rPr lang="en-US" sz="13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Cybersecurity Protection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Backup Services + Network Support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634C8C-B9B9-3A82-679B-63893066140F}"/>
              </a:ext>
            </a:extLst>
          </p:cNvPr>
          <p:cNvGrpSpPr/>
          <p:nvPr/>
        </p:nvGrpSpPr>
        <p:grpSpPr>
          <a:xfrm>
            <a:off x="4160520" y="218477"/>
            <a:ext cx="2514600" cy="1024781"/>
            <a:chOff x="6089904" y="1280160"/>
            <a:chExt cx="2697480" cy="1417320"/>
          </a:xfrm>
        </p:grpSpPr>
        <p:sp>
          <p:nvSpPr>
            <p:cNvPr id="68" name="Shape 12"/>
            <p:cNvSpPr/>
            <p:nvPr/>
          </p:nvSpPr>
          <p:spPr>
            <a:xfrm>
              <a:off x="6089904" y="1280160"/>
              <a:ext cx="2697480" cy="141732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127000" dist="38100" dir="5400000" algn="bl" rotWithShape="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Text 13"/>
            <p:cNvSpPr/>
            <p:nvPr/>
          </p:nvSpPr>
          <p:spPr>
            <a:xfrm>
              <a:off x="6272784" y="1417320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30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ONE-TIME SETUP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 14"/>
            <p:cNvSpPr/>
            <p:nvPr/>
          </p:nvSpPr>
          <p:spPr>
            <a:xfrm>
              <a:off x="6272784" y="1664208"/>
              <a:ext cx="23317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{{onboarding}}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Text 16"/>
            <p:cNvSpPr/>
            <p:nvPr/>
          </p:nvSpPr>
          <p:spPr>
            <a:xfrm>
              <a:off x="6272784" y="2208276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Onboarding, discovery &amp; infrastructure baseline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4" name="Shape 17">
            <a:extLst>
              <a:ext uri="{FF2B5EF4-FFF2-40B4-BE49-F238E27FC236}">
                <a16:creationId xmlns:a16="http://schemas.microsoft.com/office/drawing/2014/main" id="{D5818ECE-70AE-73DB-11D0-B00F0F3905D7}"/>
              </a:ext>
            </a:extLst>
          </p:cNvPr>
          <p:cNvSpPr/>
          <p:nvPr/>
        </p:nvSpPr>
        <p:spPr>
          <a:xfrm>
            <a:off x="432628" y="2742874"/>
            <a:ext cx="73152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2786F558-C9D7-15A6-4E78-3F9D8692321A}"/>
              </a:ext>
            </a:extLst>
          </p:cNvPr>
          <p:cNvSpPr/>
          <p:nvPr/>
        </p:nvSpPr>
        <p:spPr>
          <a:xfrm>
            <a:off x="615508" y="271544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Managed Services — at no additional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BD1BD9B0-7EB9-AAE8-A4B3-BBA2B405AF52}"/>
              </a:ext>
            </a:extLst>
          </p:cNvPr>
          <p:cNvSpPr/>
          <p:nvPr/>
        </p:nvSpPr>
        <p:spPr>
          <a:xfrm>
            <a:off x="413440" y="327045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8F0B72DF-4E6B-65F6-077B-0A6E983D1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4" y="3348174"/>
            <a:ext cx="164592" cy="164592"/>
          </a:xfrm>
          <a:prstGeom prst="rect">
            <a:avLst/>
          </a:prstGeom>
        </p:spPr>
      </p:pic>
      <p:sp>
        <p:nvSpPr>
          <p:cNvPr id="59" name="Text 20">
            <a:extLst>
              <a:ext uri="{FF2B5EF4-FFF2-40B4-BE49-F238E27FC236}">
                <a16:creationId xmlns:a16="http://schemas.microsoft.com/office/drawing/2014/main" id="{FDB2EA8A-DF8D-05AD-ED95-D752D1F4EC23}"/>
              </a:ext>
            </a:extLst>
          </p:cNvPr>
          <p:cNvSpPr/>
          <p:nvPr/>
        </p:nvSpPr>
        <p:spPr>
          <a:xfrm>
            <a:off x="797488" y="323387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license management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24F55BB4-8C3D-68B3-8ADB-C7E9F68B7E95}"/>
              </a:ext>
            </a:extLst>
          </p:cNvPr>
          <p:cNvSpPr/>
          <p:nvPr/>
        </p:nvSpPr>
        <p:spPr>
          <a:xfrm>
            <a:off x="413440" y="372765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required; no extra charge.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821E28BF-6F48-DC8B-23AE-9EECBEDB8361}"/>
              </a:ext>
            </a:extLst>
          </p:cNvPr>
          <p:cNvSpPr/>
          <p:nvPr/>
        </p:nvSpPr>
        <p:spPr>
          <a:xfrm>
            <a:off x="2366664" y="327045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Image 3" descr="preencoded.png">
            <a:extLst>
              <a:ext uri="{FF2B5EF4-FFF2-40B4-BE49-F238E27FC236}">
                <a16:creationId xmlns:a16="http://schemas.microsoft.com/office/drawing/2014/main" id="{DBD5F0E6-69A0-5B9F-2BFC-7F089CD8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388" y="3348174"/>
            <a:ext cx="164592" cy="164592"/>
          </a:xfrm>
          <a:prstGeom prst="rect">
            <a:avLst/>
          </a:prstGeom>
        </p:spPr>
      </p:pic>
      <p:sp>
        <p:nvSpPr>
          <p:cNvPr id="74" name="Text 28">
            <a:extLst>
              <a:ext uri="{FF2B5EF4-FFF2-40B4-BE49-F238E27FC236}">
                <a16:creationId xmlns:a16="http://schemas.microsoft.com/office/drawing/2014/main" id="{A336BB3A-957D-0C4E-18B7-2D70F626512A}"/>
              </a:ext>
            </a:extLst>
          </p:cNvPr>
          <p:cNvSpPr/>
          <p:nvPr/>
        </p:nvSpPr>
        <p:spPr>
          <a:xfrm>
            <a:off x="2750712" y="323387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license management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072B195E-98D7-1BF9-A757-F3EB80022867}"/>
              </a:ext>
            </a:extLst>
          </p:cNvPr>
          <p:cNvSpPr/>
          <p:nvPr/>
        </p:nvSpPr>
        <p:spPr>
          <a:xfrm>
            <a:off x="2366664" y="372765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coordination across your stack.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31">
            <a:extLst>
              <a:ext uri="{FF2B5EF4-FFF2-40B4-BE49-F238E27FC236}">
                <a16:creationId xmlns:a16="http://schemas.microsoft.com/office/drawing/2014/main" id="{5054495B-0214-1C70-BE55-D30BB012CC04}"/>
              </a:ext>
            </a:extLst>
          </p:cNvPr>
          <p:cNvSpPr/>
          <p:nvPr/>
        </p:nvSpPr>
        <p:spPr>
          <a:xfrm>
            <a:off x="413440" y="4063365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7" name="Image 4" descr="preencoded.png">
            <a:extLst>
              <a:ext uri="{FF2B5EF4-FFF2-40B4-BE49-F238E27FC236}">
                <a16:creationId xmlns:a16="http://schemas.microsoft.com/office/drawing/2014/main" id="{A365881A-C2E4-D63C-028B-D3A59CC4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4" y="4141089"/>
            <a:ext cx="164592" cy="164592"/>
          </a:xfrm>
          <a:prstGeom prst="rect">
            <a:avLst/>
          </a:prstGeom>
        </p:spPr>
      </p:pic>
      <p:sp>
        <p:nvSpPr>
          <p:cNvPr id="78" name="Text 32">
            <a:extLst>
              <a:ext uri="{FF2B5EF4-FFF2-40B4-BE49-F238E27FC236}">
                <a16:creationId xmlns:a16="http://schemas.microsoft.com/office/drawing/2014/main" id="{04B30698-FA57-0615-459E-0CED36A8B5BD}"/>
              </a:ext>
            </a:extLst>
          </p:cNvPr>
          <p:cNvSpPr/>
          <p:nvPr/>
        </p:nvSpPr>
        <p:spPr>
          <a:xfrm>
            <a:off x="797488" y="4026789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vCIO services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F874E584-3E00-B437-F96A-118795319B5E}"/>
              </a:ext>
            </a:extLst>
          </p:cNvPr>
          <p:cNvSpPr/>
          <p:nvPr/>
        </p:nvSpPr>
        <p:spPr>
          <a:xfrm>
            <a:off x="413440" y="4520565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IT planning aligned to your goals.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7F6156-C171-BFC6-702B-5CF9B1B10A63}"/>
              </a:ext>
            </a:extLst>
          </p:cNvPr>
          <p:cNvGrpSpPr/>
          <p:nvPr/>
        </p:nvGrpSpPr>
        <p:grpSpPr>
          <a:xfrm>
            <a:off x="4160520" y="2646549"/>
            <a:ext cx="4526280" cy="1279508"/>
            <a:chOff x="4160520" y="2685735"/>
            <a:chExt cx="4526280" cy="1279508"/>
          </a:xfrm>
        </p:grpSpPr>
        <p:sp>
          <p:nvSpPr>
            <p:cNvPr id="37" name="Shape 34"/>
            <p:cNvSpPr/>
            <p:nvPr/>
          </p:nvSpPr>
          <p:spPr>
            <a:xfrm>
              <a:off x="4160520" y="2685735"/>
              <a:ext cx="4526280" cy="12795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27000" dist="38100" dir="5400000" algn="bl" rotWithShape="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4350910" y="3224741"/>
              <a:ext cx="2377767" cy="6165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Protection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(Email Security, Phishing, Device Encryption,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 point Protection,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Managed Detection and Response (MDR)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 (Slide 6)</a:t>
              </a:r>
            </a:p>
          </p:txBody>
        </p:sp>
        <p:sp>
          <p:nvSpPr>
            <p:cNvPr id="32" name="Text 29"/>
            <p:cNvSpPr/>
            <p:nvPr/>
          </p:nvSpPr>
          <p:spPr>
            <a:xfrm>
              <a:off x="8001000" y="3380679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{{security_total}}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6967728" y="3365167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1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{{security_detail}}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Shape 35"/>
            <p:cNvSpPr/>
            <p:nvPr/>
          </p:nvSpPr>
          <p:spPr>
            <a:xfrm>
              <a:off x="4160520" y="2685735"/>
              <a:ext cx="4526280" cy="43891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 36"/>
            <p:cNvSpPr/>
            <p:nvPr/>
          </p:nvSpPr>
          <p:spPr>
            <a:xfrm>
              <a:off x="4361688" y="2731455"/>
              <a:ext cx="2697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0" cap="none" spc="300" normalizeH="0" baseline="0" noProof="0" dirty="0">
                  <a:ln>
                    <a:noFill/>
                  </a:ln>
                  <a:solidFill>
                    <a:srgbClr val="D1FAE5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PROTECTION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4361688" y="2886903"/>
              <a:ext cx="2697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Cybersecurity</a:t>
              </a: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26DD685A-F5EE-6295-31F0-CEEC08EFABB4}"/>
                </a:ext>
              </a:extLst>
            </p:cNvPr>
            <p:cNvSpPr/>
            <p:nvPr/>
          </p:nvSpPr>
          <p:spPr>
            <a:xfrm>
              <a:off x="7038920" y="268638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{{security_monthly}}/mo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Shape 18">
            <a:extLst>
              <a:ext uri="{FF2B5EF4-FFF2-40B4-BE49-F238E27FC236}">
                <a16:creationId xmlns:a16="http://schemas.microsoft.com/office/drawing/2014/main" id="{955BA055-A3BF-A298-027E-7D89837EB7B9}"/>
              </a:ext>
            </a:extLst>
          </p:cNvPr>
          <p:cNvSpPr/>
          <p:nvPr/>
        </p:nvSpPr>
        <p:spPr>
          <a:xfrm>
            <a:off x="4160520" y="4013089"/>
            <a:ext cx="4526280" cy="9488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8D68B6C0-4045-780E-25BF-D44202060E68}"/>
              </a:ext>
            </a:extLst>
          </p:cNvPr>
          <p:cNvSpPr/>
          <p:nvPr/>
        </p:nvSpPr>
        <p:spPr>
          <a:xfrm>
            <a:off x="4160520" y="4013089"/>
            <a:ext cx="4526280" cy="438912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BDBF401A-4C05-2BD3-3E64-1D9994168084}"/>
              </a:ext>
            </a:extLst>
          </p:cNvPr>
          <p:cNvSpPr/>
          <p:nvPr/>
        </p:nvSpPr>
        <p:spPr>
          <a:xfrm>
            <a:off x="4361688" y="4214257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82B36D0F-4227-198F-F4A7-6B89EC369265}"/>
              </a:ext>
            </a:extLst>
          </p:cNvPr>
          <p:cNvSpPr/>
          <p:nvPr/>
        </p:nvSpPr>
        <p:spPr>
          <a:xfrm>
            <a:off x="7086600" y="4013089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{{backup_monthly}}/mo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182BF8B9-FAA1-AA14-596C-C5A853E05D13}"/>
              </a:ext>
            </a:extLst>
          </p:cNvPr>
          <p:cNvSpPr/>
          <p:nvPr/>
        </p:nvSpPr>
        <p:spPr>
          <a:xfrm>
            <a:off x="4314009" y="4539033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to Cloud backup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Term/Monthly Billing</a:t>
            </a: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F21B650A-588C-CDBB-7CBB-FD6D3FF78860}"/>
              </a:ext>
            </a:extLst>
          </p:cNvPr>
          <p:cNvSpPr/>
          <p:nvPr/>
        </p:nvSpPr>
        <p:spPr>
          <a:xfrm>
            <a:off x="8001000" y="452515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{{backup_total}}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28AE0A89-2FC6-746F-CD91-DA61FDC6826F}"/>
              </a:ext>
            </a:extLst>
          </p:cNvPr>
          <p:cNvSpPr/>
          <p:nvPr/>
        </p:nvSpPr>
        <p:spPr>
          <a:xfrm>
            <a:off x="6967728" y="456270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{{backup_detail}}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1A1A8-729B-0636-AC5A-20BD8BD7E280}"/>
              </a:ext>
            </a:extLst>
          </p:cNvPr>
          <p:cNvSpPr txBox="1"/>
          <p:nvPr/>
        </p:nvSpPr>
        <p:spPr>
          <a:xfrm>
            <a:off x="6098339" y="4726321"/>
            <a:ext cx="22252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Additional licenses will be added as needed</a:t>
            </a:r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9530135A-C6C2-7F85-A20A-13E56D3DBEE2}"/>
              </a:ext>
            </a:extLst>
          </p:cNvPr>
          <p:cNvSpPr/>
          <p:nvPr/>
        </p:nvSpPr>
        <p:spPr>
          <a:xfrm>
            <a:off x="4332624" y="40093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{{backup_label}}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EB4FE2F8-3C60-81F3-BEA6-A576BC0D6583}"/>
              </a:ext>
            </a:extLst>
          </p:cNvPr>
          <p:cNvSpPr/>
          <p:nvPr/>
        </p:nvSpPr>
        <p:spPr>
          <a:xfrm>
            <a:off x="4332624" y="416480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HOURLY &amp; ONE-TIME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Service Rates – Special Projects/Onsite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97480" cy="1417320"/>
          </a:xfrm>
          <a:prstGeom prst="rect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{{hourly_rate}}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2404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Mon–Fri, 8:00 AM – 5:00 PM MST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73552" y="1280160"/>
            <a:ext cx="2697480" cy="141732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56432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/ WEEKEND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56432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{{after_hours_rate}}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56432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56432" y="2404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Billed in 15-minute increments (15 min minimum)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496312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612" y="3461004"/>
            <a:ext cx="164592" cy="16459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572000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647688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3461004"/>
            <a:ext cx="164592" cy="164592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457200" y="4526280"/>
            <a:ext cx="822960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Pricing valid for the engagement scope outlined in this proposal. Final SOW provided upon agreement.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F513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WHAT'S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8284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{{client}}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when you are. Let's start the conversation.</a:t>
            </a:r>
            <a:endParaRPr lang="en-US" sz="1400" dirty="0"/>
          </a:p>
        </p:txBody>
      </p:sp>
      <p:pic>
        <p:nvPicPr>
          <p:cNvPr id="9" name="Image 0" descr="/home/claude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023360"/>
            <a:ext cx="1828800" cy="57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Scottsdale  |  Your Technology Advisor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1074</Words>
  <Application>Microsoft Office PowerPoint</Application>
  <PresentationFormat>On-screen Show (16:9)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TeamLogic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TeamLogic IT proposal template</dc:title>
  <dc:subject>PptxGenJS Presentation</dc:subject>
  <dc:creator>TeamLogic IT Scottsdale</dc:creator>
  <cp:lastModifiedBy>TeamLogic IT Scottsdale</cp:lastModifiedBy>
  <cp:revision>6</cp:revision>
  <dcterms:created xsi:type="dcterms:W3CDTF">2026-05-27T18:14:32Z</dcterms:created>
  <dcterms:modified xsi:type="dcterms:W3CDTF">2026-10-28T00:04:00Z</dcterms:modified>
</cp:coreProperties>
</file>