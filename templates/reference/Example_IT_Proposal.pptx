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3" r:id="rId9"/>
    <p:sldId id="271" r:id="rId10"/>
    <p:sldId id="262" r:id="rId11"/>
    <p:sldId id="273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16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392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9.png"/><Relationship Id="rId7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F513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3200400"/>
            <a:ext cx="2743200" cy="274320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SERVICES PROPOSAL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8402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</a:t>
            </a:r>
            <a:r>
              <a:rPr lang="en-US" sz="3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Company</a:t>
            </a: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281635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TeamLogic IT.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85800" y="36118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strategic IT partnership — proactive support, hardened security, and the right technology to grow with your business.</a:t>
            </a:r>
            <a:endParaRPr lang="en-US" sz="1300" dirty="0"/>
          </a:p>
        </p:txBody>
      </p:sp>
      <p:pic>
        <p:nvPicPr>
          <p:cNvPr id="9" name="Image 0" descr="/home/claude/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11480"/>
            <a:ext cx="2103120" cy="6572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TeamLogic IT Scottsdale  |  October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383280" cy="3337560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73152" cy="3337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TEAMLOGIC EDGE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IT,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8580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your business.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246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combine national scale with local accountability — so you get enterprise-grade capability with a partner who actually knows your name.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60520" y="12984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9204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Shop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892040" y="15727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cybersecurity, compliance, and custom software — all under one roof.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92040" y="1954530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160520" y="19796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4892040" y="19613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First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892040" y="225399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team that knows your business, delivering personalized, responsive support.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92040" y="2635758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60520" y="26609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4892040" y="26426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National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892040" y="293522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340+ locations, 2,000+ engineers — with a Scottsdale team that shows up locally.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892040" y="3316986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160520" y="33421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4892040" y="33238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892040" y="36164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Owner/Vendor and CompTIA Cybersecurity Council expertise across the stack.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3998214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16052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28" name="Text 25"/>
          <p:cNvSpPr/>
          <p:nvPr/>
        </p:nvSpPr>
        <p:spPr>
          <a:xfrm>
            <a:off x="4892040" y="4005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R&amp;D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892040" y="42976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decades of industry R&amp;D investment — your roadmap stays ahead of the curve.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Solutions &amp; Services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interconnected service areas — coordinated, not siloed.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0" y="2478024"/>
            <a:ext cx="9144" cy="40233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 flipV="1">
            <a:off x="5050305" y="3103541"/>
            <a:ext cx="382644" cy="124329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867609" y="3790151"/>
            <a:ext cx="236487" cy="325497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 flipV="1">
            <a:off x="4039904" y="3790151"/>
            <a:ext cx="236487" cy="325497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711050" y="3103541"/>
            <a:ext cx="382644" cy="124329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977640" y="2788920"/>
            <a:ext cx="1188720" cy="118872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069080" y="2880360"/>
            <a:ext cx="1005840" cy="100584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69080" y="29260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600" dirty="0"/>
          </a:p>
        </p:txBody>
      </p:sp>
      <p:sp>
        <p:nvSpPr>
          <p:cNvPr id="14" name="Text 11"/>
          <p:cNvSpPr/>
          <p:nvPr/>
        </p:nvSpPr>
        <p:spPr>
          <a:xfrm>
            <a:off x="4069080" y="3611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178808" y="1755648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242816" y="1819656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334256" y="1911096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1993392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200400" y="13898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352830" y="2608625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416838" y="2672633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5508278" y="2764073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0574" y="2846369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212366" y="2809793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4904394" y="3988771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968402" y="4052779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059842" y="4144219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2138" y="4226515"/>
            <a:ext cx="310896" cy="31089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763930" y="4189939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&amp; Maintenance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3453222" y="3988771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3517230" y="4052779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3608670" y="4144219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0966" y="4226515"/>
            <a:ext cx="310896" cy="31089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53990" y="4189939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004786" y="2608625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3068794" y="2672633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3160234" y="2764073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2530" y="2846369"/>
            <a:ext cx="310896" cy="31089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554" y="2809793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Services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Risk Assessment &amp; Compliance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three-step methodology to safeguard your data and meet your industry's standards.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011680" y="2455164"/>
            <a:ext cx="51206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011680" y="2455164"/>
            <a:ext cx="512064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29844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37160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220" y="2217420"/>
            <a:ext cx="502920" cy="5029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6771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226771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Testing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3152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mitigate vulnerabilities through ethical hacking techniques.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85876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93192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217420"/>
            <a:ext cx="502920" cy="5029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2803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82803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20040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29184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and manage cybersecurity risks across the organization.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1908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49224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860" y="2217420"/>
            <a:ext cx="502920" cy="5029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38835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738835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76072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Compliance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585216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 to standards and regulations specific to your vertical.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457200" y="41605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5"/>
          <p:cNvSpPr/>
          <p:nvPr/>
        </p:nvSpPr>
        <p:spPr>
          <a:xfrm>
            <a:off x="68580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risk assessment and compliance management safeguard your data and maintain industry-specific standards.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INFRASTRUCTURE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Solutions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capabilities — from foundational systems to cutting-edge AI.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280160" y="1463040"/>
            <a:ext cx="6583680" cy="713232"/>
          </a:xfrm>
          <a:prstGeom prst="rect">
            <a:avLst/>
          </a:prstGeom>
          <a:solidFill>
            <a:srgbClr val="10B981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280160" y="1463040"/>
            <a:ext cx="914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146304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08760" y="15179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508760" y="170078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&amp; LLM Fine-Tuning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0" y="1463040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GenAI and Large Language Models to automate, enhance, and unlock value.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280160" y="2231136"/>
            <a:ext cx="6583680" cy="713232"/>
          </a:xfrm>
          <a:prstGeom prst="rect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280160" y="2231136"/>
            <a:ext cx="91440" cy="713232"/>
          </a:xfrm>
          <a:prstGeom prst="rect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22311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860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508760" y="246888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&amp; Analytics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303520" y="223113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Pipelines, BI, and advanced analytics that drive informed decision-making.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280160" y="2999232"/>
            <a:ext cx="6583680" cy="713232"/>
          </a:xfrm>
          <a:prstGeom prst="rect">
            <a:avLst/>
          </a:prstGeom>
          <a:solidFill>
            <a:srgbClr val="334155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1280160" y="2999232"/>
            <a:ext cx="91440" cy="7132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02920" y="299923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508760" y="30540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508760" y="32369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Integrations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303520" y="2999232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connect business applications into a unified, efficient workflow.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280160" y="3767328"/>
            <a:ext cx="6583680" cy="713232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1280160" y="3767328"/>
            <a:ext cx="91440" cy="7132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02920" y="376732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508760" y="38221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508760" y="400507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Software Development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303520" y="376732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solutions designed around your unique business workflows and requirements.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955280" y="1463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183880" y="1463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as a Service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threat detection to response — measured in minutes, not hours.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CaaS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828800" y="1965960"/>
            <a:ext cx="5303520" cy="4572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1520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hours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822960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 IRT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TeamLogic IT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828800" y="2926080"/>
            <a:ext cx="209931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130171" y="3154680"/>
            <a:ext cx="54864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2724531" y="29992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faster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315200" y="2834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min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50292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" y="4146804"/>
            <a:ext cx="210312" cy="2103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5156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 Centers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05156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 distributed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260604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9484" y="4146804"/>
            <a:ext cx="210312" cy="21031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15468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Experts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315468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SOC staffing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70916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2604" y="4146804"/>
            <a:ext cx="210312" cy="21031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Hunting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525780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monitoring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81228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5724" y="4146804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6092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IR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736092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remediation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0" y="1371600"/>
            <a:ext cx="3657600" cy="3657600"/>
          </a:xfrm>
          <a:prstGeom prst="ellipse">
            <a:avLst/>
          </a:prstGeom>
          <a:solidFill>
            <a:srgbClr val="0F5132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3657600"/>
            <a:ext cx="2743200" cy="274320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LANDSCAPE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9000" dirty="0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cyberattacks begin with a phishing email.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is your soft attack surface. CaaS plus advanced email threat filtering shuts the door before a single click can compromise your business.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ECOSYSTEM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&amp; Technology Partners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120+</a:t>
            </a:r>
            <a:endParaRPr lang="en-US" sz="115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partners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certifications across the categories that matter most to your stack.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Gold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581912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581912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Certified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06624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706624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CCIP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160520" y="1417320"/>
            <a:ext cx="18288" cy="31089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434840" y="1417320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INFRASTRUCTURE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434840" y="1709928"/>
            <a:ext cx="6172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434840" y="1709928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116068" y="1709928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116068" y="170992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774436" y="1709928"/>
            <a:ext cx="1033272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774436" y="170992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871716" y="1709928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71716" y="170992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530084" y="1709928"/>
            <a:ext cx="676656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530084" y="1709928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Lenovo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434840" y="2231136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434840" y="2523744"/>
            <a:ext cx="676656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434840" y="2523744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Sophos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175504" y="2523744"/>
            <a:ext cx="854964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5175504" y="2523744"/>
            <a:ext cx="85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Security+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94476" y="2523744"/>
            <a:ext cx="91440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094476" y="25237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Trustmark+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072884" y="2523744"/>
            <a:ext cx="61722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7072884" y="2523744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Datto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434840" y="30449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COMMS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434840" y="3337560"/>
            <a:ext cx="9144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4434840" y="3337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CCIP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13248" y="3337560"/>
            <a:ext cx="795528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5413248" y="3337560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Network+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6272784" y="3337560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272784" y="333756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3CX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6931152" y="3337560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6931152" y="333756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NUSO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434840" y="3858768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TOOLING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434840" y="4151376"/>
            <a:ext cx="676656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4434840" y="4151376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Kaseya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175504" y="4151376"/>
            <a:ext cx="795528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5175504" y="4151376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Autotask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6035040" y="4151376"/>
            <a:ext cx="795528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6035040" y="4151376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NinjaOne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894576" y="4151376"/>
            <a:ext cx="61722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6894576" y="4151376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Datto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OUTCOMES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in Their Words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575304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1265" y="1381841"/>
            <a:ext cx="198973" cy="1989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995928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1889" y="1381841"/>
            <a:ext cx="198973" cy="198973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416552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513" y="1381841"/>
            <a:ext cx="198973" cy="198973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4837176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137" y="1381841"/>
            <a:ext cx="198973" cy="198973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257800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761" y="1381841"/>
            <a:ext cx="198973" cy="198973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3886200" y="1600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000" dirty="0"/>
          </a:p>
        </p:txBody>
      </p:sp>
      <p:sp>
        <p:nvSpPr>
          <p:cNvPr id="16" name="Text 8"/>
          <p:cNvSpPr/>
          <p:nvPr/>
        </p:nvSpPr>
        <p:spPr>
          <a:xfrm>
            <a:off x="1097280" y="23317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customers have been consistently impressed by the exceptional service and attention to detail provided by our team — and the tangible results they've achieved with our solutions.</a:t>
            </a:r>
            <a:endParaRPr lang="en-US" sz="1800" dirty="0"/>
          </a:p>
        </p:txBody>
      </p:sp>
      <p:sp>
        <p:nvSpPr>
          <p:cNvPr id="17" name="Text 9"/>
          <p:cNvSpPr/>
          <p:nvPr/>
        </p:nvSpPr>
        <p:spPr>
          <a:xfrm>
            <a:off x="1371600" y="3429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Our Feedback Process: every closed ticket triggers a CSAT survey; quarterly reviews with key stakeholders.</a:t>
            </a:r>
            <a:endParaRPr lang="en-US" sz="1000" dirty="0"/>
          </a:p>
        </p:txBody>
      </p:sp>
      <p:sp>
        <p:nvSpPr>
          <p:cNvPr id="18" name="Text 10"/>
          <p:cNvSpPr/>
          <p:nvPr/>
        </p:nvSpPr>
        <p:spPr>
          <a:xfrm>
            <a:off x="61722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800" dirty="0"/>
          </a:p>
        </p:txBody>
      </p:sp>
      <p:sp>
        <p:nvSpPr>
          <p:cNvPr id="19" name="Text 11"/>
          <p:cNvSpPr/>
          <p:nvPr/>
        </p:nvSpPr>
        <p:spPr>
          <a:xfrm>
            <a:off x="61722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Class NPS &gt; 70%</a:t>
            </a:r>
            <a:endParaRPr lang="en-US" sz="1100" dirty="0"/>
          </a:p>
        </p:txBody>
      </p:sp>
      <p:sp>
        <p:nvSpPr>
          <p:cNvPr id="20" name="Text 12"/>
          <p:cNvSpPr/>
          <p:nvPr/>
        </p:nvSpPr>
        <p:spPr>
          <a:xfrm>
            <a:off x="61722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Promoter Score</a:t>
            </a:r>
            <a:endParaRPr lang="en-US" sz="900" dirty="0"/>
          </a:p>
        </p:txBody>
      </p:sp>
      <p:sp>
        <p:nvSpPr>
          <p:cNvPr id="21" name="Shape 13"/>
          <p:cNvSpPr/>
          <p:nvPr/>
        </p:nvSpPr>
        <p:spPr>
          <a:xfrm>
            <a:off x="3241548" y="4023360"/>
            <a:ext cx="9144" cy="6400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/>
          <p:nvPr/>
        </p:nvSpPr>
        <p:spPr>
          <a:xfrm>
            <a:off x="326898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26898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CSAT &gt; 90%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326898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</a:t>
            </a:r>
            <a:endParaRPr lang="en-US" sz="900" dirty="0"/>
          </a:p>
        </p:txBody>
      </p:sp>
      <p:sp>
        <p:nvSpPr>
          <p:cNvPr id="25" name="Shape 17"/>
          <p:cNvSpPr/>
          <p:nvPr/>
        </p:nvSpPr>
        <p:spPr>
          <a:xfrm>
            <a:off x="5893308" y="4023360"/>
            <a:ext cx="9144" cy="6400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/>
          <p:nvPr/>
        </p:nvSpPr>
        <p:spPr>
          <a:xfrm>
            <a:off x="592074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100s</a:t>
            </a:r>
            <a:endParaRPr lang="en-US" sz="2800" dirty="0"/>
          </a:p>
        </p:txBody>
      </p:sp>
      <p:sp>
        <p:nvSpPr>
          <p:cNvPr id="27" name="Text 19"/>
          <p:cNvSpPr/>
          <p:nvPr/>
        </p:nvSpPr>
        <p:spPr>
          <a:xfrm>
            <a:off x="592074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5-Star Reviews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92074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our markets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F513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AWARDS &amp; RECOGNITION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/ 2026 Awards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6916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45720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MSP in Scottsdale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Futures Regional Rankings — recognizing the top managed service providers in our market.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business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78308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82880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82880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10896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15468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340+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15468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754880" y="155448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1" descr="/home/claude/msp501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691640"/>
            <a:ext cx="3108960" cy="1619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937760" y="34480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Two-Time MSP of the Year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937760" y="376809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 nationally by Channel Futures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Current State to Safe Environment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576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3657600" cy="41148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5800" y="1874520"/>
            <a:ext cx="32004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desktops/laptops</a:t>
            </a:r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Unresponsive remote IT provider</a:t>
            </a:r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example: improve support responsiveness.</a:t>
            </a:r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2651760"/>
            <a:ext cx="731520" cy="731520"/>
          </a:xfrm>
          <a:prstGeom prst="ellipse">
            <a:avLst/>
          </a:prstGeom>
          <a:solidFill>
            <a:srgbClr val="10B981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28163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1280160"/>
            <a:ext cx="36576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29200" y="1280160"/>
            <a:ext cx="3657600" cy="411480"/>
          </a:xfrm>
          <a:prstGeom prst="rect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02920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ENVIRONMENT WITH TEAMLOGIC IT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187452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40680" y="18288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Network Monitoring (NOC)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40680" y="207568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detection across all systems and devices</a:t>
            </a:r>
            <a:endParaRPr lang="en-US" sz="9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253288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24871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Help Desk Support/Local Presence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440680" y="27340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end-user support; minimal downtime</a:t>
            </a:r>
            <a:endParaRPr lang="en-US" sz="9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191256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440680" y="314553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Security Services 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5440680" y="339242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protection, email security, SOC services</a:t>
            </a:r>
            <a:endParaRPr lang="en-US" sz="9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849624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440680" y="380390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vCIO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5440680" y="405079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guidance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4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PROPOSAL PRICING – 4 Devices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Your Monthly Investment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419318" y="1629266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0F51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$410.00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3038668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month    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7200" y="3794760"/>
            <a:ext cx="22157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72908" y="3794760"/>
            <a:ext cx="11675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160520" y="1358550"/>
            <a:ext cx="452628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160520" y="1358550"/>
            <a:ext cx="4526280" cy="438912"/>
          </a:xfrm>
          <a:prstGeom prst="rect">
            <a:avLst/>
          </a:prstGeom>
          <a:solidFill>
            <a:srgbClr val="0F513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361688" y="1404270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30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CORE SUPPORT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361688" y="155971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086600" y="135855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$320.00/mo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4332624" y="204296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Unlimited Help Desk Support (Business Hours)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24/7 NOC Monitoring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Management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995160" y="187061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Devices × $80.00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001000" y="187061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4361688" y="2263140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4361688" y="2464308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4361688" y="3616452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4361688" y="3817620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4361688" y="4018788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4361688" y="4219956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Text 58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DCF82DC6-8FF4-14FC-136C-F89780B29FF6}"/>
              </a:ext>
            </a:extLst>
          </p:cNvPr>
          <p:cNvSpPr/>
          <p:nvPr/>
        </p:nvSpPr>
        <p:spPr>
          <a:xfrm>
            <a:off x="457200" y="1214385"/>
            <a:ext cx="34387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Managed Services </a:t>
            </a:r>
            <a:r>
              <a:rPr lang="en-US" sz="13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Cybersecurity Protection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Backup Services + Network Support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D634C8C-B9B9-3A82-679B-63893066140F}"/>
              </a:ext>
            </a:extLst>
          </p:cNvPr>
          <p:cNvGrpSpPr/>
          <p:nvPr/>
        </p:nvGrpSpPr>
        <p:grpSpPr>
          <a:xfrm>
            <a:off x="4160520" y="218477"/>
            <a:ext cx="2514600" cy="1024781"/>
            <a:chOff x="6089904" y="1280160"/>
            <a:chExt cx="2697480" cy="1417320"/>
          </a:xfrm>
        </p:grpSpPr>
        <p:sp>
          <p:nvSpPr>
            <p:cNvPr id="68" name="Shape 12"/>
            <p:cNvSpPr/>
            <p:nvPr/>
          </p:nvSpPr>
          <p:spPr>
            <a:xfrm>
              <a:off x="6089904" y="1280160"/>
              <a:ext cx="2697480" cy="1417320"/>
            </a:xfrm>
            <a:prstGeom prst="rect">
              <a:avLst/>
            </a:prstGeom>
            <a:solidFill>
              <a:srgbClr val="10B981"/>
            </a:solidFill>
            <a:ln/>
            <a:effectLst>
              <a:outerShdw blurRad="127000" dist="38100" dir="5400000" algn="bl" rotWithShape="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Text 13"/>
            <p:cNvSpPr/>
            <p:nvPr/>
          </p:nvSpPr>
          <p:spPr>
            <a:xfrm>
              <a:off x="6272784" y="1417320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0" cap="none" spc="30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ONE-TIME SETUP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Text 14"/>
            <p:cNvSpPr/>
            <p:nvPr/>
          </p:nvSpPr>
          <p:spPr>
            <a:xfrm>
              <a:off x="6272784" y="1664208"/>
              <a:ext cx="23317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$500</a:t>
              </a: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2" name="Text 16"/>
            <p:cNvSpPr/>
            <p:nvPr/>
          </p:nvSpPr>
          <p:spPr>
            <a:xfrm>
              <a:off x="6272784" y="2208276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Onboarding, discovery &amp; infrastructure baseline</a:t>
              </a:r>
              <a:endPara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4" name="Shape 17">
            <a:extLst>
              <a:ext uri="{FF2B5EF4-FFF2-40B4-BE49-F238E27FC236}">
                <a16:creationId xmlns:a16="http://schemas.microsoft.com/office/drawing/2014/main" id="{D5818ECE-70AE-73DB-11D0-B00F0F3905D7}"/>
              </a:ext>
            </a:extLst>
          </p:cNvPr>
          <p:cNvSpPr/>
          <p:nvPr/>
        </p:nvSpPr>
        <p:spPr>
          <a:xfrm>
            <a:off x="432628" y="2742874"/>
            <a:ext cx="73152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2786F558-C9D7-15A6-4E78-3F9D8692321A}"/>
              </a:ext>
            </a:extLst>
          </p:cNvPr>
          <p:cNvSpPr/>
          <p:nvPr/>
        </p:nvSpPr>
        <p:spPr>
          <a:xfrm>
            <a:off x="615508" y="271544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Managed Services — at no additional cost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BD1BD9B0-7EB9-AAE8-A4B3-BBA2B405AF52}"/>
              </a:ext>
            </a:extLst>
          </p:cNvPr>
          <p:cNvSpPr/>
          <p:nvPr/>
        </p:nvSpPr>
        <p:spPr>
          <a:xfrm>
            <a:off x="413440" y="327045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8" name="Image 1" descr="preencoded.png">
            <a:extLst>
              <a:ext uri="{FF2B5EF4-FFF2-40B4-BE49-F238E27FC236}">
                <a16:creationId xmlns:a16="http://schemas.microsoft.com/office/drawing/2014/main" id="{8F0B72DF-4E6B-65F6-077B-0A6E983D1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64" y="3348174"/>
            <a:ext cx="164592" cy="164592"/>
          </a:xfrm>
          <a:prstGeom prst="rect">
            <a:avLst/>
          </a:prstGeom>
        </p:spPr>
      </p:pic>
      <p:sp>
        <p:nvSpPr>
          <p:cNvPr id="59" name="Text 20">
            <a:extLst>
              <a:ext uri="{FF2B5EF4-FFF2-40B4-BE49-F238E27FC236}">
                <a16:creationId xmlns:a16="http://schemas.microsoft.com/office/drawing/2014/main" id="{FDB2EA8A-DF8D-05AD-ED95-D752D1F4EC23}"/>
              </a:ext>
            </a:extLst>
          </p:cNvPr>
          <p:cNvSpPr/>
          <p:nvPr/>
        </p:nvSpPr>
        <p:spPr>
          <a:xfrm>
            <a:off x="797488" y="3233874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Microsoft license management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24F55BB4-8C3D-68B3-8ADB-C7E9F68B7E95}"/>
              </a:ext>
            </a:extLst>
          </p:cNvPr>
          <p:cNvSpPr/>
          <p:nvPr/>
        </p:nvSpPr>
        <p:spPr>
          <a:xfrm>
            <a:off x="413440" y="372765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Admin access required; no extra charge.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Shape 27">
            <a:extLst>
              <a:ext uri="{FF2B5EF4-FFF2-40B4-BE49-F238E27FC236}">
                <a16:creationId xmlns:a16="http://schemas.microsoft.com/office/drawing/2014/main" id="{821E28BF-6F48-DC8B-23AE-9EECBEDB8361}"/>
              </a:ext>
            </a:extLst>
          </p:cNvPr>
          <p:cNvSpPr/>
          <p:nvPr/>
        </p:nvSpPr>
        <p:spPr>
          <a:xfrm>
            <a:off x="2366664" y="327045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Image 3" descr="preencoded.png">
            <a:extLst>
              <a:ext uri="{FF2B5EF4-FFF2-40B4-BE49-F238E27FC236}">
                <a16:creationId xmlns:a16="http://schemas.microsoft.com/office/drawing/2014/main" id="{DBD5F0E6-69A0-5B9F-2BFC-7F089CD814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388" y="3348174"/>
            <a:ext cx="164592" cy="164592"/>
          </a:xfrm>
          <a:prstGeom prst="rect">
            <a:avLst/>
          </a:prstGeom>
        </p:spPr>
      </p:pic>
      <p:sp>
        <p:nvSpPr>
          <p:cNvPr id="74" name="Text 28">
            <a:extLst>
              <a:ext uri="{FF2B5EF4-FFF2-40B4-BE49-F238E27FC236}">
                <a16:creationId xmlns:a16="http://schemas.microsoft.com/office/drawing/2014/main" id="{A336BB3A-957D-0C4E-18B7-2D70F626512A}"/>
              </a:ext>
            </a:extLst>
          </p:cNvPr>
          <p:cNvSpPr/>
          <p:nvPr/>
        </p:nvSpPr>
        <p:spPr>
          <a:xfrm>
            <a:off x="2750712" y="3233874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Vendor &amp; license management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Text 29">
            <a:extLst>
              <a:ext uri="{FF2B5EF4-FFF2-40B4-BE49-F238E27FC236}">
                <a16:creationId xmlns:a16="http://schemas.microsoft.com/office/drawing/2014/main" id="{072B195E-98D7-1BF9-A757-F3EB80022867}"/>
              </a:ext>
            </a:extLst>
          </p:cNvPr>
          <p:cNvSpPr/>
          <p:nvPr/>
        </p:nvSpPr>
        <p:spPr>
          <a:xfrm>
            <a:off x="2366664" y="372765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coordination across your stack.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Shape 31">
            <a:extLst>
              <a:ext uri="{FF2B5EF4-FFF2-40B4-BE49-F238E27FC236}">
                <a16:creationId xmlns:a16="http://schemas.microsoft.com/office/drawing/2014/main" id="{5054495B-0214-1C70-BE55-D30BB012CC04}"/>
              </a:ext>
            </a:extLst>
          </p:cNvPr>
          <p:cNvSpPr/>
          <p:nvPr/>
        </p:nvSpPr>
        <p:spPr>
          <a:xfrm>
            <a:off x="413440" y="4063365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7" name="Image 4" descr="preencoded.png">
            <a:extLst>
              <a:ext uri="{FF2B5EF4-FFF2-40B4-BE49-F238E27FC236}">
                <a16:creationId xmlns:a16="http://schemas.microsoft.com/office/drawing/2014/main" id="{A365881A-C2E4-D63C-028B-D3A59CC4D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64" y="4141089"/>
            <a:ext cx="164592" cy="164592"/>
          </a:xfrm>
          <a:prstGeom prst="rect">
            <a:avLst/>
          </a:prstGeom>
        </p:spPr>
      </p:pic>
      <p:sp>
        <p:nvSpPr>
          <p:cNvPr id="78" name="Text 32">
            <a:extLst>
              <a:ext uri="{FF2B5EF4-FFF2-40B4-BE49-F238E27FC236}">
                <a16:creationId xmlns:a16="http://schemas.microsoft.com/office/drawing/2014/main" id="{04B30698-FA57-0615-459E-0CED36A8B5BD}"/>
              </a:ext>
            </a:extLst>
          </p:cNvPr>
          <p:cNvSpPr/>
          <p:nvPr/>
        </p:nvSpPr>
        <p:spPr>
          <a:xfrm>
            <a:off x="797488" y="4026789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vCIO services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F874E584-3E00-B437-F96A-118795319B5E}"/>
              </a:ext>
            </a:extLst>
          </p:cNvPr>
          <p:cNvSpPr/>
          <p:nvPr/>
        </p:nvSpPr>
        <p:spPr>
          <a:xfrm>
            <a:off x="413440" y="4520565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IT planning aligned to your goals.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27F6156-C171-BFC6-702B-5CF9B1B10A63}"/>
              </a:ext>
            </a:extLst>
          </p:cNvPr>
          <p:cNvGrpSpPr/>
          <p:nvPr/>
        </p:nvGrpSpPr>
        <p:grpSpPr>
          <a:xfrm>
            <a:off x="4160520" y="2646549"/>
            <a:ext cx="4526280" cy="1279508"/>
            <a:chOff x="4160520" y="2685735"/>
            <a:chExt cx="4526280" cy="1279508"/>
          </a:xfrm>
        </p:grpSpPr>
        <p:sp>
          <p:nvSpPr>
            <p:cNvPr id="37" name="Shape 34"/>
            <p:cNvSpPr/>
            <p:nvPr/>
          </p:nvSpPr>
          <p:spPr>
            <a:xfrm>
              <a:off x="4160520" y="2685735"/>
              <a:ext cx="4526280" cy="127950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  <a:effectLst>
              <a:outerShdw blurRad="127000" dist="38100" dir="5400000" algn="bl" rotWithShape="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Text 27"/>
            <p:cNvSpPr/>
            <p:nvPr/>
          </p:nvSpPr>
          <p:spPr>
            <a:xfrm>
              <a:off x="4350910" y="3224741"/>
              <a:ext cx="2377767" cy="6165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Advanced Protection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(Email Security, Phishing, Device Encryption,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End point Protection, 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Managed Detection and Response (MDR)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SOC (Slide 6)</a:t>
              </a:r>
            </a:p>
          </p:txBody>
        </p:sp>
        <p:sp>
          <p:nvSpPr>
            <p:cNvPr id="32" name="Text 29"/>
            <p:cNvSpPr/>
            <p:nvPr/>
          </p:nvSpPr>
          <p:spPr>
            <a:xfrm>
              <a:off x="8001000" y="3380679"/>
              <a:ext cx="5486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1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$50.00</a:t>
              </a:r>
              <a:endPara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 32"/>
            <p:cNvSpPr/>
            <p:nvPr/>
          </p:nvSpPr>
          <p:spPr>
            <a:xfrm>
              <a:off x="6967728" y="3365167"/>
              <a:ext cx="1143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0" b="0" i="1" u="none" strike="noStrike" kern="1200" cap="none" spc="0" normalizeH="0" baseline="0" noProof="0" dirty="0">
                  <a:ln>
                    <a:noFill/>
                  </a:ln>
                  <a:solidFill>
                    <a:srgbClr val="64748B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 users × $25.00</a:t>
              </a:r>
              <a:endPara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Shape 35"/>
            <p:cNvSpPr/>
            <p:nvPr/>
          </p:nvSpPr>
          <p:spPr>
            <a:xfrm>
              <a:off x="4160520" y="2685735"/>
              <a:ext cx="4526280" cy="438912"/>
            </a:xfrm>
            <a:prstGeom prst="rect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Text 36"/>
            <p:cNvSpPr/>
            <p:nvPr/>
          </p:nvSpPr>
          <p:spPr>
            <a:xfrm>
              <a:off x="4361688" y="2731455"/>
              <a:ext cx="269748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0" b="1" i="0" u="none" strike="noStrike" kern="0" cap="none" spc="300" normalizeH="0" baseline="0" noProof="0" dirty="0">
                  <a:ln>
                    <a:noFill/>
                  </a:ln>
                  <a:solidFill>
                    <a:srgbClr val="D1FAE5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PROTECTION</a:t>
              </a:r>
              <a:endPara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 37"/>
            <p:cNvSpPr/>
            <p:nvPr/>
          </p:nvSpPr>
          <p:spPr>
            <a:xfrm>
              <a:off x="4361688" y="2886903"/>
              <a:ext cx="2697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Cybersecurity</a:t>
              </a: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0" name="Text 22">
              <a:extLst>
                <a:ext uri="{FF2B5EF4-FFF2-40B4-BE49-F238E27FC236}">
                  <a16:creationId xmlns:a16="http://schemas.microsoft.com/office/drawing/2014/main" id="{26DD685A-F5EE-6295-31F0-CEEC08EFABB4}"/>
                </a:ext>
              </a:extLst>
            </p:cNvPr>
            <p:cNvSpPr/>
            <p:nvPr/>
          </p:nvSpPr>
          <p:spPr>
            <a:xfrm>
              <a:off x="7038920" y="2686388"/>
              <a:ext cx="146304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$50.00/mo</a:t>
              </a:r>
              <a:endPara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Shape 18">
            <a:extLst>
              <a:ext uri="{FF2B5EF4-FFF2-40B4-BE49-F238E27FC236}">
                <a16:creationId xmlns:a16="http://schemas.microsoft.com/office/drawing/2014/main" id="{955BA055-A3BF-A298-027E-7D89837EB7B9}"/>
              </a:ext>
            </a:extLst>
          </p:cNvPr>
          <p:cNvSpPr/>
          <p:nvPr/>
        </p:nvSpPr>
        <p:spPr>
          <a:xfrm>
            <a:off x="4160520" y="4013089"/>
            <a:ext cx="4526280" cy="9488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19">
            <a:extLst>
              <a:ext uri="{FF2B5EF4-FFF2-40B4-BE49-F238E27FC236}">
                <a16:creationId xmlns:a16="http://schemas.microsoft.com/office/drawing/2014/main" id="{8D68B6C0-4045-780E-25BF-D44202060E68}"/>
              </a:ext>
            </a:extLst>
          </p:cNvPr>
          <p:cNvSpPr/>
          <p:nvPr/>
        </p:nvSpPr>
        <p:spPr>
          <a:xfrm>
            <a:off x="4160520" y="4013089"/>
            <a:ext cx="4526280" cy="438912"/>
          </a:xfrm>
          <a:prstGeom prst="rect">
            <a:avLst/>
          </a:prstGeom>
          <a:solidFill>
            <a:srgbClr val="0F513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BDBF401A-4C05-2BD3-3E64-1D9994168084}"/>
              </a:ext>
            </a:extLst>
          </p:cNvPr>
          <p:cNvSpPr/>
          <p:nvPr/>
        </p:nvSpPr>
        <p:spPr>
          <a:xfrm>
            <a:off x="4361688" y="4214257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82B36D0F-4227-198F-F4A7-6B89EC369265}"/>
              </a:ext>
            </a:extLst>
          </p:cNvPr>
          <p:cNvSpPr/>
          <p:nvPr/>
        </p:nvSpPr>
        <p:spPr>
          <a:xfrm>
            <a:off x="7086600" y="4013089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$40.00/mo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23">
            <a:extLst>
              <a:ext uri="{FF2B5EF4-FFF2-40B4-BE49-F238E27FC236}">
                <a16:creationId xmlns:a16="http://schemas.microsoft.com/office/drawing/2014/main" id="{182BF8B9-FAA1-AA14-596C-C5A853E05D13}"/>
              </a:ext>
            </a:extLst>
          </p:cNvPr>
          <p:cNvSpPr/>
          <p:nvPr/>
        </p:nvSpPr>
        <p:spPr>
          <a:xfrm>
            <a:off x="4314009" y="4539033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Cloud to Cloud backup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Term/Monthly Billing</a:t>
            </a:r>
          </a:p>
        </p:txBody>
      </p:sp>
      <p:sp>
        <p:nvSpPr>
          <p:cNvPr id="19" name="Text 25">
            <a:extLst>
              <a:ext uri="{FF2B5EF4-FFF2-40B4-BE49-F238E27FC236}">
                <a16:creationId xmlns:a16="http://schemas.microsoft.com/office/drawing/2014/main" id="{F21B650A-588C-CDBB-7CBB-FD6D3FF78860}"/>
              </a:ext>
            </a:extLst>
          </p:cNvPr>
          <p:cNvSpPr/>
          <p:nvPr/>
        </p:nvSpPr>
        <p:spPr>
          <a:xfrm>
            <a:off x="8001000" y="4525153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$40.00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2">
            <a:extLst>
              <a:ext uri="{FF2B5EF4-FFF2-40B4-BE49-F238E27FC236}">
                <a16:creationId xmlns:a16="http://schemas.microsoft.com/office/drawing/2014/main" id="{28AE0A89-2FC6-746F-CD91-DA61FDC6826F}"/>
              </a:ext>
            </a:extLst>
          </p:cNvPr>
          <p:cNvSpPr/>
          <p:nvPr/>
        </p:nvSpPr>
        <p:spPr>
          <a:xfrm>
            <a:off x="6967728" y="456270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 users × $20.00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1A1A8-729B-0636-AC5A-20BD8BD7E280}"/>
              </a:ext>
            </a:extLst>
          </p:cNvPr>
          <p:cNvSpPr txBox="1"/>
          <p:nvPr/>
        </p:nvSpPr>
        <p:spPr>
          <a:xfrm>
            <a:off x="6098339" y="4726321"/>
            <a:ext cx="222528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Additional licenses will be added as needed</a:t>
            </a:r>
          </a:p>
        </p:txBody>
      </p:sp>
      <p:sp>
        <p:nvSpPr>
          <p:cNvPr id="31" name="Text 36">
            <a:extLst>
              <a:ext uri="{FF2B5EF4-FFF2-40B4-BE49-F238E27FC236}">
                <a16:creationId xmlns:a16="http://schemas.microsoft.com/office/drawing/2014/main" id="{9530135A-C6C2-7F85-A20A-13E56D3DBEE2}"/>
              </a:ext>
            </a:extLst>
          </p:cNvPr>
          <p:cNvSpPr/>
          <p:nvPr/>
        </p:nvSpPr>
        <p:spPr>
          <a:xfrm>
            <a:off x="4332624" y="4009356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30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EB4FE2F8-3C60-81F3-BEA6-A576BC0D6583}"/>
              </a:ext>
            </a:extLst>
          </p:cNvPr>
          <p:cNvSpPr/>
          <p:nvPr/>
        </p:nvSpPr>
        <p:spPr>
          <a:xfrm>
            <a:off x="4332624" y="416480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4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HOURLY &amp; ONE-TIME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Service Rates – Special Projects/Onsite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2697480" cy="1417320"/>
          </a:xfrm>
          <a:prstGeom prst="rect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BUSINESS HOURS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640080" y="16642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$135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22402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hour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640080" y="24048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Mon–Fri, 8:00 AM – 5:00 PM MST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273552" y="1280160"/>
            <a:ext cx="2697480" cy="1417320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456432" y="1417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AFTER-HOURS / WEEKEND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456432" y="16642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$202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456432" y="22402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hour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456432" y="24048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Billed in 15-minute increments (15 min minimum)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4"/>
          <p:cNvSpPr/>
          <p:nvPr/>
        </p:nvSpPr>
        <p:spPr>
          <a:xfrm>
            <a:off x="457200" y="4526280"/>
            <a:ext cx="82296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5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Pricing valid for the engagement scope outlined in this proposal. Final SOW provided upon agreement.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3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F5132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73152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WHAT'S NEXT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828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Company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8580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when you are. Let's start the conversation.</a:t>
            </a:r>
            <a:endParaRPr lang="en-US" sz="1400" dirty="0"/>
          </a:p>
        </p:txBody>
      </p:sp>
      <p:pic>
        <p:nvPicPr>
          <p:cNvPr id="9" name="Image 0" descr="/home/claude/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023360"/>
            <a:ext cx="1828800" cy="5715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Scottsdale  |  Your Technology Advisor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1074</Words>
  <Application>Microsoft Office PowerPoint</Application>
  <PresentationFormat>On-screen Show (16:9)</PresentationFormat>
  <Paragraphs>260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TeamLogic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TeamLogic IT — Managed Services Proposal — Example Company</dc:title>
  <dc:subject/>
  <dc:creator>TeamLogic IT Scottsdale</dc:creator>
  <cp:lastModifiedBy>TeamLogic IT Scottsdale</cp:lastModifiedBy>
  <cp:revision>6</cp:revision>
  <dcterms:created xsi:type="dcterms:W3CDTF">2026-05-27T18:14:32Z</dcterms:created>
  <dcterms:modified xsi:type="dcterms:W3CDTF">2026-10-28T00:04:00Z</dcterms:modified>
  <dc:description/>
  <cp:keywords/>
</cp:coreProperties>
</file>